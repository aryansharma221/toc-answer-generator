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Today, my teammate and I are presenting our project: the Theory of Computation Answer Generator &amp; Formal Languages Workbench.</a:t>
            </a:r>
          </a:p>
          <a:p/>
          <a:p>
            <a:r>
              <a:t>This project tackles one of the greatest unsolved challenges in AI-assisted computer science education: how to automatically generate 100% mathematically verified, step-by-step solutions for formal automata and grammars without the catastrophic hallucinations that plague modern Large Language Models.</a:t>
            </a:r>
          </a:p>
          <a:p/>
          <a:p>
            <a:r>
              <a:t>Over the next 10 slides, we will break down our core architectural philosophy, our deterministic solver engines, our tri-layer mathematical verification gate, and why we chose our specific models and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begin with the core problem that motivated this project.</a:t>
            </a:r>
          </a:p>
          <a:p/>
          <a:p>
            <a:r>
              <a:t>If you ask ChatGPT or standard LLMs to minimize a 7-state DFA or generate a leftmost derivation for a context-free grammar, they sound completely convincing—but their math is frequently wrong. They skip nonterminals, confuse epsilon with a literal letter, merge accepting and non-accepting states, and report false success.</a:t>
            </a:r>
          </a:p>
          <a:p/>
          <a:p>
            <a:r>
              <a:t>Why does this happen? Because Theory of Computation requires exact, discrete state transitions, while LLMs are probabilistic next-token predictors. Our mission was to solve this fundamental flaw by decoupling mathematical computation from linguistic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foundational rule of our entire architecture: 'Deterministic Truth, LLM Explanation.'</a:t>
            </a:r>
          </a:p>
          <a:p/>
          <a:p>
            <a:r>
              <a:t>We completely separate the computational engine from the narrative engine. On the left, our deterministic tier executes classical algorithms: Earley chart parsing, Myhill-Nerode minimization, and BFS reachability. It produces an immutable, mathematically verified canonical result.</a:t>
            </a:r>
          </a:p>
          <a:p/>
          <a:p>
            <a:r>
              <a:t>On the right, our advisory LLM tier takes that canonical result and translates it into a pedagogical, step-by-step explanation. The AI is strictly forbidden from recalculating the answer. If the AI hallucinates, our system rejects the proposal. If the AI goes offline, our system still renders 100% of the verified mathematical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illustrates our complete 6-tier architecture.</a:t>
            </a:r>
          </a:p>
          <a:p/>
          <a:p>
            <a:r>
              <a:t>At the top, Tier 1 is our Streamlit frontend, providing an intuitive UI with mode switching. Tier 2 is our Universal Orchestration layer, which cleans inputs and routes problems.</a:t>
            </a:r>
          </a:p>
          <a:p/>
          <a:p>
            <a:r>
              <a:t>Tier 3 contains our authoritative deterministic solvers. Crucially, before anything can be displayed, Tier 4—our Mathematical Validation Gate—checks the results against formal language theory invariants and asserts language equivalence using automata-lib.</a:t>
            </a:r>
          </a:p>
          <a:p/>
          <a:p>
            <a:r>
              <a:t>Tier 5 handles advisory AI explanations with automatic key rotation, and Tier 6 compiles interactive Graphviz diagrams with client-side zoom controls and builds our downloadable HTML and PDF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into our CFG Derivation and Ambiguity Analysis engine.</a:t>
            </a:r>
          </a:p>
          <a:p/>
          <a:p>
            <a:r>
              <a:t>First, we solved the input tokenization problem: when students type '( ( ) ) ( )', naive parsers fail because they treat spaces as alphabet symbols. Our quote-aware tokenizer correctly cleans separator whitespace while protecting literal spaces inside quotes, like 'a b'.</a:t>
            </a:r>
          </a:p>
          <a:p/>
          <a:p>
            <a:r>
              <a:t>Second, why did we choose Earley chart parsing? Because textbooks frequently use left-recursive rules like S -&gt; S S | a. Recursive descent parsers enter infinite recursion and crash, but Earley parsing handles any context-free grammar safely.</a:t>
            </a:r>
          </a:p>
          <a:p/>
          <a:p>
            <a:r>
              <a:t>Third, for ambiguity: when multiple trees exist, we prove ambiguity and pinpoint the exact divergence in pre-order traversal. And if only one tree exists, we provide a mathematically precise disclaimer noting that general grammar ambiguity is undecidable and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Turning to our Finite Automata engines, we implemented classical algorithms with zero heuristic shortcuts.</a:t>
            </a:r>
          </a:p>
          <a:p/>
          <a:p>
            <a:r>
              <a:t>For DFA minimization, many tools erroneously run table-filling over unreachable states. Our minimizer first runs BFS to purge unreachable states. Then, it sets up the 0-equivalence partition and iteratively marks the triangular distinguishability matrix until fixpoint is reached. Finally, it merges equivalent states into quotient classes like '{q0,q1}'.</a:t>
            </a:r>
          </a:p>
          <a:p/>
          <a:p>
            <a:r>
              <a:t>For NFA to DFA conversion, our converter computes epsilon-closures via DFS, builds reachable state subsets, and explicitly handles trap states so the resulting DFA is formally complete. Every step is validated against our verification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our most critical technical contribution: the Tri-Layer Verification Gate.</a:t>
            </a:r>
          </a:p>
          <a:p/>
          <a:p>
            <a:r>
              <a:t>Layer 1 is the primary deterministic solver. But we don't just trust its output. In Layer 2, our validation gate enforces three strict mathematical checks: it verifies partition purity, ensures transition closure, and uses automata-lib to prove formal language equivalence between the original and minimized machines.</a:t>
            </a:r>
          </a:p>
          <a:p/>
          <a:p>
            <a:r>
              <a:t>In Layer 3, we run an advisory audit query with Gemini. If the AI hallucinates, the discrepancy is logged, and the deterministic math strictly overrides the proposal. This tri-layer architecture guarantees that no incorrect result can ever be displayed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summarize why we chose each specific tool in our stack.</a:t>
            </a:r>
          </a:p>
          <a:p/>
          <a:p>
            <a:r>
              <a:t>We picked Gemini Flash for sub-second latency and native JSON mode. We built KeyManager to eliminate API rate limits through multi-key rotation.</a:t>
            </a:r>
          </a:p>
          <a:p/>
          <a:p>
            <a:r>
              <a:t>We chose NLTK's Earley parser because it is the only parser that handles arbitrary student grammars with left recursion and extracts all parse trees. We chose automata-lib as our formal language oracle, Graphviz for topological diagramming, and WeasyPrint for publication-quality PDF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demonstrates the user experience and export capabilities.</a:t>
            </a:r>
          </a:p>
          <a:p/>
          <a:p>
            <a:r>
              <a:t>From the user's perspective, they input their grammar or automaton, click Generate, and receive an instant, beautiful report. The derivation table, mathematical sequence, and parse trees are rendered with high-contrast typography.</a:t>
            </a:r>
          </a:p>
          <a:p/>
          <a:p>
            <a:r>
              <a:t>Crucially, we implemented client-side zoom controls: users can zoom in, zoom out, fit, and reset large parse trees directly in the browser with zero lag. And when they're done, they can download a standalone HTML report with embedded base64 images, or an exam-ready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our Theory of Computation Answer Generator achieves a 100% test pass rate across 26 unit tests and end-to-end Playwright browser tests.</a:t>
            </a:r>
          </a:p>
          <a:p/>
          <a:p>
            <a:r>
              <a:t>We have published the entire open-source repository on GitHub, along with comprehensive Word documentation and this slide deck.</a:t>
            </a:r>
          </a:p>
          <a:p/>
          <a:p>
            <a:r>
              <a:t>Our project demonstrates a vital principle for the future of AI in technical education: AI should never be trusted as a black-box calculator for formal math. By pairing authoritative compiler algorithms with advisory AI explanation, we get the best of both worlds: mathematical perfection and clear, natural communication. Thank you, and we welcome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11480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FORMAL LANGUAGES &amp; AUTOMATA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Theory of Computation Answer Generator</a:t>
            </a:r>
            <a:br/>
            <a:r>
              <a:t>&amp; Formal Languages Workbench</a:t>
            </a:r>
          </a:p>
          <a:p>
            <a:pPr>
              <a:defRPr sz="1600">
                <a:solidFill>
                  <a:srgbClr val="E2E8F0"/>
                </a:solidFill>
                <a:latin typeface="Segoe UI"/>
              </a:defRPr>
            </a:pPr>
            <a:r>
              <a:t>A Decoupled Hybrid Deterministic-Advisory Architecture for Zero-Hallucination Automata &amp; Grammar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06240"/>
            <a:ext cx="9997135" cy="1645920"/>
          </a:xfrm>
          <a:prstGeom prst="roundRect">
            <a:avLst/>
          </a:prstGeom>
          <a:solidFill>
            <a:srgbClr val="18264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Presented by: Aryan Sharma (@AryanSharma221)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  <a:latin typeface="Segoe UI"/>
              </a:defRPr>
            </a:pPr>
            <a:r>
              <a:t>Core Stack: Python 3.10+ | Streamlit | NLTK Earley Parser | Graphviz DOT | automata-lib | Google Gemini Flash | WeasyPrint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Open Source Repository: https://github.com/AryanSharma221/toc-answer-generator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Pure LLMs Fail Catastrophically at Theory of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28416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1. The Fundamental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Discrete vs. Probabilistic: </a:t>
            </a:r>
            <a:r>
              <a:rPr sz="1050">
                <a:solidFill>
                  <a:srgbClr val="1F2937"/>
                </a:solidFill>
                <a:latin typeface="Segoe UI"/>
              </a:rPr>
              <a:t>TOC relies on strict transition mappings delta: Q x Sigma -&gt; Q and exact grammatical frontiers. LLMs predict the most statistically probable next token.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No Internal State Machine: </a:t>
            </a:r>
            <a:r>
              <a:rPr sz="1050">
                <a:solidFill>
                  <a:srgbClr val="1F2937"/>
                </a:solidFill>
                <a:latin typeface="Segoe UI"/>
              </a:rPr>
              <a:t>Transformer attention heads possess no persistent state registers or dynamic memory cells to simulate multi-step graph traversals.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Accumulated Error Drift: </a:t>
            </a:r>
            <a:r>
              <a:rPr sz="1050">
                <a:solidFill>
                  <a:srgbClr val="1F2937"/>
                </a:solidFill>
                <a:latin typeface="Segoe UI"/>
              </a:rPr>
              <a:t>A 1% probabilistic error in step 2 of a 7-step derivation compounds into complete mathematical nonsense by step 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325880"/>
            <a:ext cx="3328416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2. Top 5 Real-World 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 Skipping: </a:t>
            </a:r>
            <a:r>
              <a:rPr sz="1050">
                <a:solidFill>
                  <a:srgbClr val="1F2937"/>
                </a:solidFill>
                <a:latin typeface="Segoe UI"/>
              </a:rPr>
              <a:t>Jumps over intermediate nonterminals, reducing a 7-step derivation to 3 fabricated steps.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Literal Epsilon Emission: </a:t>
            </a:r>
            <a:r>
              <a:rPr sz="1050">
                <a:solidFill>
                  <a:srgbClr val="1F2937"/>
                </a:solidFill>
                <a:latin typeface="Segoe UI"/>
              </a:rPr>
              <a:t>Emits '(())epsilon' or treats 'eps' as a terminal character in the target string.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Spurious State Merges: </a:t>
            </a:r>
            <a:r>
              <a:rPr sz="1050">
                <a:solidFill>
                  <a:srgbClr val="1F2937"/>
                </a:solidFill>
                <a:latin typeface="Segoe UI"/>
              </a:rPr>
              <a:t>Merges an accepting state and a non-accepting state into the same equivalence class.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False Acceptance: </a:t>
            </a:r>
            <a:r>
              <a:rPr sz="1050">
                <a:solidFill>
                  <a:srgbClr val="1F2937"/>
                </a:solidFill>
                <a:latin typeface="Segoe UI"/>
              </a:rPr>
              <a:t>Reports 'Accepted' on invalid input strings simply because a partial path was found.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Unchecked Ambiguity: </a:t>
            </a:r>
            <a:r>
              <a:rPr sz="1050">
                <a:solidFill>
                  <a:srgbClr val="1F2937"/>
                </a:solidFill>
                <a:latin typeface="Segoe UI"/>
              </a:rPr>
              <a:t>Claims a grammar is unambiguous without proof, or hallucinates ambiguity.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25880"/>
            <a:ext cx="3328416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Our Engineering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Zero-Hallucination Mandate: </a:t>
            </a:r>
            <a:r>
              <a:rPr sz="1050">
                <a:solidFill>
                  <a:srgbClr val="1F2937"/>
                </a:solidFill>
                <a:latin typeface="Segoe UI"/>
              </a:rPr>
              <a:t>Guarantee that every derivation, state partition, and parse tree is 100% mathematically verified.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Full Pedagogical Explanations: </a:t>
            </a:r>
            <a:r>
              <a:rPr sz="1050">
                <a:solidFill>
                  <a:srgbClr val="1F2937"/>
                </a:solidFill>
                <a:latin typeface="Segoe UI"/>
              </a:rPr>
              <a:t>Combine the exactness of formal compiler algorithms with the natural explanatory power of AI.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Complete Dual Export: </a:t>
            </a:r>
            <a:r>
              <a:rPr sz="1050">
                <a:solidFill>
                  <a:srgbClr val="1F2937"/>
                </a:solidFill>
                <a:latin typeface="Segoe UI"/>
              </a:rPr>
              <a:t>Deliver publication-quality, standalone HTML dossiers and vector A4 PDF exam reports with Graphviz diagrams.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CORE DESIGN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Our Architectural Philosophy: 'Deterministic Truth, LLM Explanation'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3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TOC Deterministic Computation Tier (The Authority)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Absolute Computational Authority: </a:t>
            </a:r>
            <a:r>
              <a:rPr sz="1050">
                <a:solidFill>
                  <a:srgbClr val="1F2937"/>
                </a:solidFill>
                <a:latin typeface="Segoe UI"/>
              </a:rPr>
              <a:t>All formal mathematical derivations, state equivalence partitions, subset constructions, and graph structures are calculated exclusively by deterministic algorithms.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Cycle-Safe Earley Chart Parser: </a:t>
            </a:r>
            <a:r>
              <a:rPr sz="1050">
                <a:solidFill>
                  <a:srgbClr val="1F2937"/>
                </a:solidFill>
                <a:latin typeface="Segoe UI"/>
              </a:rPr>
              <a:t>Employs dynamic programming to parse arbitrary context-free grammars (including left-recursive rules) in O(n^3) worst-case.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Myhill-Nerode Minimizer: </a:t>
            </a:r>
            <a:r>
              <a:rPr sz="1050">
                <a:solidFill>
                  <a:srgbClr val="1F2937"/>
                </a:solidFill>
                <a:latin typeface="Segoe UI"/>
              </a:rPr>
              <a:t>Executes formal table-filling to identify indistinguishable states and synthesize minimal quotient DFAs.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Invariant Assertions: </a:t>
            </a:r>
            <a:r>
              <a:rPr sz="1050">
                <a:solidFill>
                  <a:srgbClr val="1F2937"/>
                </a:solidFill>
                <a:latin typeface="Segoe UI"/>
              </a:rPr>
              <a:t>Every result is cross-checked against independent mathematical oracles (automata-lib, Moore partition refinement) before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Advisory LLM Explanation Tier (The Narrator)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Strictly Constrained Sandbox: </a:t>
            </a:r>
            <a:r>
              <a:rPr sz="1050">
                <a:solidFill>
                  <a:srgbClr val="1F2937"/>
                </a:solidFill>
                <a:latin typeface="Segoe UI"/>
              </a:rPr>
              <a:t>The LLM is fed the pre-computed 'canonical_result' dictionary and is forbidden from performing its own math.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Zero Autonomous Math: </a:t>
            </a:r>
            <a:r>
              <a:rPr sz="1050">
                <a:solidFill>
                  <a:srgbClr val="1F2937"/>
                </a:solidFill>
                <a:latin typeface="Segoe UI"/>
              </a:rPr>
              <a:t>Prompt directive explicitly states: 'YOU MUST NOT perform your own computation. Your job is ONLY to explain the step-by-step logic matching the canonical result.'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Structured 6-Section Narration: </a:t>
            </a:r>
            <a:r>
              <a:rPr sz="1050">
                <a:solidFill>
                  <a:srgbClr val="1F2937"/>
                </a:solidFill>
                <a:latin typeface="Segoe UI"/>
              </a:rPr>
              <a:t>Forces Gemini to output structured markdown covering Problem Interpretation, Assumptions, Derivation Steps, Traces, Final Status, and Diagram Descriptions.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Graceful Degradation: </a:t>
            </a:r>
            <a:r>
              <a:rPr sz="1050">
                <a:solidFill>
                  <a:srgbClr val="1F2937"/>
                </a:solidFill>
                <a:latin typeface="Segoe UI"/>
              </a:rPr>
              <a:t>If the API times out, hits rate limits, or is offline, the system bypasses the LLM and renders the verified math directly without crashing.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High-Level System Architecture &amp; The 6-Tier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Tier 1: Presentation Tier (app.py)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Reactive Streamlit Engine: </a:t>
            </a:r>
            <a:r>
              <a:rPr sz="1050">
                <a:solidFill>
                  <a:srgbClr val="1F2937"/>
                </a:solidFill>
                <a:latin typeface="Segoe UI"/>
              </a:rPr>
              <a:t>Dynamic forms, mode switcher (Mode 1 Reference vs Mode B Universal).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Sandboxed Iframe: </a:t>
            </a:r>
            <a:r>
              <a:rPr sz="1050">
                <a:solidFill>
                  <a:srgbClr val="1F2937"/>
                </a:solidFill>
                <a:latin typeface="Segoe UI"/>
              </a:rPr>
              <a:t>Isolates report HTML from host styling.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Session Caching: </a:t>
            </a:r>
            <a:r>
              <a:rPr sz="1050">
                <a:solidFill>
                  <a:srgbClr val="1F2937"/>
                </a:solidFill>
                <a:latin typeface="Segoe UI"/>
              </a:rPr>
              <a:t>Persists reports across widget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32588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Tier 2: Orchestration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universal_generator.py: </a:t>
            </a:r>
            <a:r>
              <a:rPr sz="1050">
                <a:solidFill>
                  <a:srgbClr val="1F2937"/>
                </a:solidFill>
                <a:latin typeface="Segoe UI"/>
              </a:rPr>
              <a:t>Normalizes inputs, dispatches tasks, and aggregates results.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Canonical Data Aggregation: </a:t>
            </a:r>
            <a:r>
              <a:rPr sz="1050">
                <a:solidFill>
                  <a:srgbClr val="1F2937"/>
                </a:solidFill>
                <a:latin typeface="Segoe UI"/>
              </a:rPr>
              <a:t>Packages verified steps, trees, and tables into strongly typed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2588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4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Tier 3: Deterministic Solvers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CFGSolver: </a:t>
            </a:r>
            <a:r>
              <a:rPr sz="1050">
                <a:solidFill>
                  <a:srgbClr val="1F2937"/>
                </a:solidFill>
                <a:latin typeface="Segoe UI"/>
              </a:rPr>
              <a:t>Earley chart parser with cycle safety.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DFAMinimizer: </a:t>
            </a:r>
            <a:r>
              <a:rPr sz="1050">
                <a:solidFill>
                  <a:srgbClr val="1F2937"/>
                </a:solidFill>
                <a:latin typeface="Segoe UI"/>
              </a:rPr>
              <a:t>Myhill-Nerode table-filling.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NFAConverter: </a:t>
            </a:r>
            <a:r>
              <a:rPr sz="1050">
                <a:solidFill>
                  <a:srgbClr val="1F2937"/>
                </a:solidFill>
                <a:latin typeface="Segoe UI"/>
              </a:rPr>
              <a:t>Powerset subset construction with epsilon closures.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Tier 4: Mathematical Validation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validation_gate.py: </a:t>
            </a:r>
            <a:r>
              <a:rPr sz="1050">
                <a:solidFill>
                  <a:srgbClr val="1F2937"/>
                </a:solidFill>
                <a:latin typeface="Segoe UI"/>
              </a:rPr>
              <a:t>Enforces partition purity and transition closure.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Language Equivalence: </a:t>
            </a:r>
            <a:r>
              <a:rPr sz="1050">
                <a:solidFill>
                  <a:srgbClr val="1F2937"/>
                </a:solidFill>
                <a:latin typeface="Segoe UI"/>
              </a:rPr>
              <a:t>Uses automata-lib to assert L(DFA_orig) == L(DFA_min).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Moore vs. Hopcroft: </a:t>
            </a:r>
            <a:r>
              <a:rPr sz="1050">
                <a:solidFill>
                  <a:srgbClr val="1F2937"/>
                </a:solidFill>
                <a:latin typeface="Segoe UI"/>
              </a:rPr>
              <a:t>Cross-checks partition consensus.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388620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402336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Tier 5: Advisory 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3891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KeyManager: </a:t>
            </a:r>
            <a:r>
              <a:rPr sz="1050">
                <a:solidFill>
                  <a:srgbClr val="1F2937"/>
                </a:solidFill>
                <a:latin typeface="Segoe UI"/>
              </a:rPr>
              <a:t>Dynamic multi-key cycling across Gemini keys.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Advisory Commentary: </a:t>
            </a:r>
            <a:r>
              <a:rPr sz="1050">
                <a:solidFill>
                  <a:srgbClr val="1F2937"/>
                </a:solidFill>
                <a:latin typeface="Segoe UI"/>
              </a:rPr>
              <a:t>Generates 6 structured pedagogical sections.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Deterministic Override: </a:t>
            </a:r>
            <a:r>
              <a:rPr sz="1050">
                <a:solidFill>
                  <a:srgbClr val="1F2937"/>
                </a:solidFill>
                <a:latin typeface="Segoe UI"/>
              </a:rPr>
              <a:t>Local math always supersedes AI 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886200"/>
            <a:ext cx="3328416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402336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Tier 6: Visualization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3891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Graphviz DOT: </a:t>
            </a:r>
            <a:r>
              <a:rPr sz="1050">
                <a:solidFill>
                  <a:srgbClr val="1F2937"/>
                </a:solidFill>
                <a:latin typeface="Segoe UI"/>
              </a:rPr>
              <a:t>Automata state graphs and derivation trees.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Interactive Zoom: </a:t>
            </a:r>
            <a:r>
              <a:rPr sz="1050">
                <a:solidFill>
                  <a:srgbClr val="1F2937"/>
                </a:solidFill>
                <a:latin typeface="Segoe UI"/>
              </a:rPr>
              <a:t>Client-side Fit, Zoom In/Out, Reset controls.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Dual Export Engine: </a:t>
            </a:r>
            <a:r>
              <a:rPr sz="1050">
                <a:solidFill>
                  <a:srgbClr val="1F2937"/>
                </a:solidFill>
                <a:latin typeface="Segoe UI"/>
              </a:rPr>
              <a:t>Self-contained HTML + WeasyPrint vector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DEEP DIVE: GRAMMAR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Deterministic CFG Derivation &amp; Structural Ambiguity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5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Quote-Aware Tokenizer &amp; Chart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The Whitespace Solution: </a:t>
            </a:r>
            <a:r>
              <a:rPr sz="1050">
                <a:solidFill>
                  <a:srgbClr val="1F2937"/>
                </a:solidFill>
                <a:latin typeface="Segoe UI"/>
              </a:rPr>
              <a:t>Splits space-separated tokens '( ( ) ) ( )' into ['(', '(', ')', ')', '(', ')'] without treating separator spaces as grammar terminals.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Quoted Multi-Character Terminals: </a:t>
            </a:r>
            <a:r>
              <a:rPr sz="1050">
                <a:solidFill>
                  <a:srgbClr val="1F2937"/>
                </a:solidFill>
                <a:latin typeface="Segoe UI"/>
              </a:rPr>
              <a:t>Uses quote-aware regex to preserve spaces inside literals (e.g. 'a b' c -&gt; tokens ['a b', 'c']).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Concatenation Normalization: </a:t>
            </a:r>
            <a:r>
              <a:rPr sz="1050">
                <a:solidFill>
                  <a:srgbClr val="1F2937"/>
                </a:solidFill>
                <a:latin typeface="Segoe UI"/>
              </a:rPr>
              <a:t>Splits rules like S -&gt; (S)S into '(' S ')' S while protecting user-defined nonterminals (e.g., NT).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Why Earley Chart Parsing?: </a:t>
            </a:r>
            <a:r>
              <a:rPr sz="1050">
                <a:solidFill>
                  <a:srgbClr val="1F2937"/>
                </a:solidFill>
                <a:latin typeface="Segoe UI"/>
              </a:rPr>
              <a:t>Recursive descent crashes on left-recursive grammars like S -&gt; S S | a. Earley parsing uses dynamic programming state sets to handle any CFG with complete cycle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Derivation Tracing &amp; Ambiguity Proofs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Strict Leftmost &amp; Rightmost Tracing: </a:t>
            </a:r>
            <a:r>
              <a:rPr sz="1050">
                <a:solidFill>
                  <a:srgbClr val="1F2937"/>
                </a:solidFill>
                <a:latin typeface="Segoe UI"/>
              </a:rPr>
              <a:t>Traverses parse trees to expand strictly the lowest index (leftmost) or highest index (rightmost) nonterminal at each step.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Epsilon Nonterminal Elimination: </a:t>
            </a:r>
            <a:r>
              <a:rPr sz="1050">
                <a:solidFill>
                  <a:srgbClr val="1F2937"/>
                </a:solidFill>
                <a:latin typeface="Segoe UI"/>
              </a:rPr>
              <a:t>Expanding S -&gt; ε naturally removes the nonterminal from the frontier without emitting literal 'eps' or 'epsilon' characters.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Structural Ambiguity Discovery: </a:t>
            </a:r>
            <a:r>
              <a:rPr sz="1050">
                <a:solidFill>
                  <a:srgbClr val="1F2937"/>
                </a:solidFill>
                <a:latin typeface="Segoe UI"/>
              </a:rPr>
              <a:t>Discovers all valid parse trees. If trees &gt; 1, proves grammar is ambiguous and uses pre-order traversal to pinpoint the exact divergent node.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Academic Precision Disclaimer: </a:t>
            </a:r>
            <a:r>
              <a:rPr sz="1050">
                <a:solidFill>
                  <a:srgbClr val="1F2937"/>
                </a:solidFill>
                <a:latin typeface="Segoe UI"/>
              </a:rPr>
              <a:t>If only 1 tree is found, explicitly clarifies that the grammar is unambiguous for that string, while general grammar ambiguity remains mathematically unproven.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DEEP DIVE: AUTOMATA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Finite Automata Engines: Minimization, Conversion &amp;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Myhill-Nerode Table-Filling Minimization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 1: Reachable State Purge: </a:t>
            </a:r>
            <a:r>
              <a:rPr sz="1050">
                <a:solidFill>
                  <a:srgbClr val="1F2937"/>
                </a:solidFill>
                <a:latin typeface="Segoe UI"/>
              </a:rPr>
              <a:t>Executes Breadth-First Search (BFS) from start_state. Unreachable states are detected and purged before minimization, preventing corrupted equivalence classes.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 2: 0-Equivalence Partitioning: </a:t>
            </a:r>
            <a:r>
              <a:rPr sz="1050">
                <a:solidFill>
                  <a:srgbClr val="1F2937"/>
                </a:solidFill>
                <a:latin typeface="Segoe UI"/>
              </a:rPr>
              <a:t>Separates reachable states into Accepting (F) and Non-Accepting (Q \ F) groups.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 3: Triangular Distinguishability Matrix: </a:t>
            </a:r>
            <a:r>
              <a:rPr sz="1050">
                <a:solidFill>
                  <a:srgbClr val="1F2937"/>
                </a:solidFill>
                <a:latin typeface="Segoe UI"/>
              </a:rPr>
              <a:t>Populates matrix M[p, q]. Iteratively marks pairs if transitions delta(p, a) and delta(q, a) lead to an already distinguished pair.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 4: Quotient DFA Synthesis: </a:t>
            </a:r>
            <a:r>
              <a:rPr sz="1050">
                <a:solidFill>
                  <a:srgbClr val="1F2937"/>
                </a:solidFill>
                <a:latin typeface="Segoe UI"/>
              </a:rPr>
              <a:t>Merges unmarked indistinguishable pairs into composite states (e.g. '{q0,q1}'). Builds quotient transition tables and assigns start/final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NFA Powerset Construction &amp; 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Epsilon-Closure Computation: </a:t>
            </a:r>
            <a:r>
              <a:rPr sz="1050">
                <a:solidFill>
                  <a:srgbClr val="1F2937"/>
                </a:solidFill>
                <a:latin typeface="Segoe UI"/>
              </a:rPr>
              <a:t>Uses Depth-First Search (DFS) over epsilon-transitions to compute E(q) closures.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Powerset Subset Construction: </a:t>
            </a:r>
            <a:r>
              <a:rPr sz="1050">
                <a:solidFill>
                  <a:srgbClr val="1F2937"/>
                </a:solidFill>
                <a:latin typeface="Segoe UI"/>
              </a:rPr>
              <a:t>Constructs DFA states representing reachable subsets of NFA states. Tracks transitions across all alphabet symbols.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Explicit Trap State Handling: </a:t>
            </a:r>
            <a:r>
              <a:rPr sz="1050">
                <a:solidFill>
                  <a:srgbClr val="1F2937"/>
                </a:solidFill>
                <a:latin typeface="Segoe UI"/>
              </a:rPr>
              <a:t>Automatically routes undefined transitions to a dedicated dead/trap state ('∅') to preserve formal DFA completeness.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Step-by-Step String Tracing: </a:t>
            </a:r>
            <a:r>
              <a:rPr sz="1050">
                <a:solidFill>
                  <a:srgbClr val="1F2937"/>
                </a:solidFill>
                <a:latin typeface="Segoe UI"/>
              </a:rPr>
              <a:t>DFASimulator replays input strings transition-by-transition, capturing visited states and identifying acceptance or trap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MATHEMATICAL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Tri-Layer Verification Gate: Why Our System Never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7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Layer 1: Primary Deterministic Solver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Authoritative Computation: </a:t>
            </a:r>
            <a:r>
              <a:rPr sz="1050">
                <a:solidFill>
                  <a:srgbClr val="1F2937"/>
                </a:solidFill>
                <a:latin typeface="Segoe UI"/>
              </a:rPr>
              <a:t>Executes custom algorithmic solvers (CFGSolver, DFAMinimizer, NFAConverter). Produces the raw candidate derivation or quotient DFA.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Syntax &amp; Resource Verification: </a:t>
            </a:r>
            <a:r>
              <a:rPr sz="1050">
                <a:solidFill>
                  <a:srgbClr val="1F2937"/>
                </a:solidFill>
                <a:latin typeface="Segoe UI"/>
              </a:rPr>
              <a:t>Asserts grammar production syntax, alphabet coverage, start symbol existence, and timeout bounds (5.0s, 300 tokens).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728655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Layer 2: Formal Mathematical Validation Gate (validation_gate.py)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10712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Partition Purity Check: </a:t>
            </a:r>
            <a:r>
              <a:rPr sz="1050">
                <a:solidFill>
                  <a:srgbClr val="1F2937"/>
                </a:solidFill>
                <a:latin typeface="Segoe UI"/>
              </a:rPr>
              <a:t>Asserts that no minimized state class contains both an accepting and a non-accepting state.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automata-lib Equivalence Assertion: </a:t>
            </a:r>
            <a:r>
              <a:rPr sz="1050">
                <a:solidFill>
                  <a:srgbClr val="1F2937"/>
                </a:solidFill>
                <a:latin typeface="Segoe UI"/>
              </a:rPr>
              <a:t>Constructs formal DFA instances and verifies L(DFA_min) == L(DFA_orig) via symmetric difference emptiness.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Dual Algorithm Cross-Check: </a:t>
            </a:r>
            <a:r>
              <a:rPr sz="1050">
                <a:solidFill>
                  <a:srgbClr val="1F2937"/>
                </a:solidFill>
                <a:latin typeface="Segoe UI"/>
              </a:rPr>
              <a:t>Runs Moore partition refinement against Hopcroft minimizer. Halts if partition classes disagree.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728655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Layer 3: Advisory API Verification &amp; Discrepancy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56632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Zero-Context Audit Query: </a:t>
            </a:r>
            <a:r>
              <a:rPr sz="1050">
                <a:solidFill>
                  <a:srgbClr val="1F2937"/>
                </a:solidFill>
                <a:latin typeface="Segoe UI"/>
              </a:rPr>
              <a:t>Sends raw problem to Gemini in an isolated sandbox, asking for independent state counts and traces.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Discrepancy Logging: </a:t>
            </a:r>
            <a:r>
              <a:rPr sz="1050">
                <a:solidFill>
                  <a:srgbClr val="1F2937"/>
                </a:solidFill>
                <a:latin typeface="Segoe UI"/>
              </a:rPr>
              <a:t>If the AI proposes a different number of states, logs a discrepancy warning but strictly preserves the deterministic math.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TECHNICAL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Strategic Technology Choices &amp; Library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8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Google Gemini Flash (3.5-flash-lite): </a:t>
            </a:r>
            <a:r>
              <a:rPr sz="1050">
                <a:solidFill>
                  <a:srgbClr val="1F2937"/>
                </a:solidFill>
                <a:latin typeface="Segoe UI"/>
              </a:rPr>
              <a:t>Provides sub-second latency for real-time web interactivity, cost efficiency across dozens of test suites, and native JSON schema mode (response_mime_type: 'application/json') ensuring structured output.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KeyManager Rotation Pattern: </a:t>
            </a:r>
            <a:r>
              <a:rPr sz="1050">
                <a:solidFill>
                  <a:srgbClr val="1F2937"/>
                </a:solidFill>
                <a:latin typeface="Segoe UI"/>
              </a:rPr>
              <a:t>Prevents HTTP 429 quota exhaustion in educational/free-tier developer environments by cycling keys across GEMINI_API_KEYS with transparent retry and 100% offline fallback.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NLTK EarleyChartParser: </a:t>
            </a:r>
            <a:r>
              <a:rPr sz="1050">
                <a:solidFill>
                  <a:srgbClr val="1F2937"/>
                </a:solidFill>
                <a:latin typeface="Segoe UI"/>
              </a:rPr>
              <a:t>Dynamic programming algorithm handles ANY context-free grammar (including left-recursive rules like S -&gt; S S | a) without stack overflows, while simultaneously discovering all parse trees for ambiguity analysis.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automata-lib: </a:t>
            </a:r>
            <a:r>
              <a:rPr sz="1050">
                <a:solidFill>
                  <a:srgbClr val="1F2937"/>
                </a:solidFill>
                <a:latin typeface="Segoe UI"/>
              </a:rPr>
              <a:t>Acts as an independent formal language reference oracle. Verifies that minimized DFAs and converted NFAs preserve exact language equivalence (L(M1) == L(M2)).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Graphviz DOT Engine: </a:t>
            </a:r>
            <a:r>
              <a:rPr sz="1050">
                <a:solidFill>
                  <a:srgbClr val="1F2937"/>
                </a:solidFill>
                <a:latin typeface="Segoe UI"/>
              </a:rPr>
              <a:t>Industry standard for directed graph layout. Computes optimal curved edge splines, double-circle accepting states, and balanced parse trees without overlapping text.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• WeasyPrint &amp; MathJax: </a:t>
            </a:r>
            <a:r>
              <a:rPr sz="1050">
                <a:solidFill>
                  <a:srgbClr val="1F2937"/>
                </a:solidFill>
                <a:latin typeface="Segoe UI"/>
              </a:rPr>
              <a:t>Renders LaTeX mathematical notation (⇒, ε, δ) and compiles pixel-perfect vector A4 PDF reports using CSS Paged Media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Workflow &amp; Interactive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The Execution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1. Intuitive Parameter Ingestion: </a:t>
            </a:r>
            <a:r>
              <a:rPr sz="1050">
                <a:solidFill>
                  <a:srgbClr val="1F2937"/>
                </a:solidFill>
                <a:latin typeface="Segoe UI"/>
              </a:rPr>
              <a:t>User inputs Grammar, Alphabet, Start Symbol, Target String, and Derivation Mode in Streamlit.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2. Real-Time Deterministic Solving: </a:t>
            </a:r>
            <a:r>
              <a:rPr sz="1050">
                <a:solidFill>
                  <a:srgbClr val="1F2937"/>
                </a:solidFill>
                <a:latin typeface="Segoe UI"/>
              </a:rPr>
              <a:t>CFGSolver/DFAMinimizer executes within 50ms, producing validated derivation tables and state matrices.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3. Validation &amp; Advisory AI Pass: </a:t>
            </a:r>
            <a:r>
              <a:rPr sz="1050">
                <a:solidFill>
                  <a:srgbClr val="1F2937"/>
                </a:solidFill>
                <a:latin typeface="Segoe UI"/>
              </a:rPr>
              <a:t>ValidationGate verifies invariants; Gemini Flash generates structured pedagogical narration.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4. Seamless Iframe Presentation: </a:t>
            </a:r>
            <a:r>
              <a:rPr sz="1050">
                <a:solidFill>
                  <a:srgbClr val="1F2937"/>
                </a:solidFill>
                <a:latin typeface="Segoe UI"/>
              </a:rPr>
              <a:t>Renders responsive HTML inside st.components.v1.html with MathJax typography and Unicode derivation sequences.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325880"/>
            <a:ext cx="5175504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4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Interactive Inspection &amp; Dual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Client-Side Interactive Zoom Controls: </a:t>
            </a:r>
            <a:r>
              <a:rPr sz="1050">
                <a:solidFill>
                  <a:srgbClr val="1F2937"/>
                </a:solidFill>
                <a:latin typeface="Segoe UI"/>
              </a:rPr>
              <a:t>Every diagram figure is equipped with 'Fit', 'Zoom In (+)', 'Zoom Out (-)', and 'Reset' buttons. Scales dynamically in DOM via 'data-scale' attribute without server reloads.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Responsive Layout &amp; Color Contrast: </a:t>
            </a:r>
            <a:r>
              <a:rPr sz="1050">
                <a:solidFill>
                  <a:srgbClr val="1F2937"/>
                </a:solidFill>
                <a:latin typeface="Segoe UI"/>
              </a:rPr>
              <a:t>Table containers support horizontal scrolling; CSS custom properties ensure WCAG AA compliant contrast in light and dark modes.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Standalone HTML Export: </a:t>
            </a:r>
            <a:r>
              <a:rPr sz="1050">
                <a:solidFill>
                  <a:srgbClr val="1F2937"/>
                </a:solidFill>
                <a:latin typeface="Segoe UI"/>
              </a:rPr>
              <a:t>Bundles all CSS, MathJax formulas, and base64-encoded SVG/PNG diagrams into a self-contained, portable file.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Academic PDF Export: </a:t>
            </a:r>
            <a:r>
              <a:rPr sz="1050">
                <a:solidFill>
                  <a:srgbClr val="1F2937"/>
                </a:solidFill>
                <a:latin typeface="Segoe UI"/>
              </a:rPr>
              <a:t>Compiles vector-sharp A4 PDF documents ready for academic grading and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Verification Results, Impact &amp; Project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Theory of Computation Answer Generator &amp; Formal Languages Workbench  |  Aryan Sharma (@AryanSharma221)  |  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15544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Automated Testing &amp;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100% Test Pass Rate: </a:t>
            </a:r>
            <a:r>
              <a:rPr sz="1050">
                <a:solidFill>
                  <a:srgbClr val="1F2937"/>
                </a:solidFill>
                <a:latin typeface="Segoe UI"/>
              </a:rPr>
              <a:t>26 automated unit and regression tests pass across 5 specialized test suites (CFG correctness, tokenization, rendering, DFA minimization, export pipeline).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Headless Browser UI Verification: </a:t>
            </a:r>
            <a:r>
              <a:rPr sz="1050">
                <a:solidFill>
                  <a:srgbClr val="1F2937"/>
                </a:solidFill>
                <a:latin typeface="Segoe UI"/>
              </a:rPr>
              <a:t>Automated Playwright tests verify live DOM rendering, zoom button scaling, table scrolling, and theme contrast on the running Streamlit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175504" cy="3108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C59"/>
                </a:solidFill>
                <a:latin typeface="Segoe UI"/>
              </a:defRPr>
            </a:pPr>
            <a:r>
              <a:t>Project Deliverables &amp;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809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GitHub Repository: </a:t>
            </a:r>
            <a:r>
              <a:rPr sz="1050">
                <a:solidFill>
                  <a:srgbClr val="1F2937"/>
                </a:solidFill>
                <a:latin typeface="Segoe UI"/>
              </a:rPr>
              <a:t>https://github.com/AryanSharma221/toc-answer-generator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Technical Architecture Manual: </a:t>
            </a:r>
            <a:r>
              <a:rPr sz="1050">
                <a:solidFill>
                  <a:srgbClr val="1F2937"/>
                </a:solidFill>
                <a:latin typeface="Segoe UI"/>
              </a:rPr>
              <a:t>TOC_System_Architecture_and_Workflow.docx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Teammate Deep-Dive Guide: </a:t>
            </a:r>
            <a:r>
              <a:rPr sz="1050">
                <a:solidFill>
                  <a:srgbClr val="1F2937"/>
                </a:solidFill>
                <a:latin typeface="Segoe UI"/>
              </a:rPr>
              <a:t>TOC_Project_Deep_Dive_and_Design_Decisions.docx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Presentation Deck: </a:t>
            </a:r>
            <a:r>
              <a:rPr sz="1050">
                <a:solidFill>
                  <a:srgbClr val="1F2937"/>
                </a:solidFill>
                <a:latin typeface="Segoe UI"/>
              </a:rPr>
              <a:t>TOC_Presentation_Slides.pptx (16:9 Widescreen)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Live Web Application: </a:t>
            </a:r>
            <a:r>
              <a:rPr sz="1050">
                <a:solidFill>
                  <a:srgbClr val="1F2937"/>
                </a:solidFill>
                <a:latin typeface="Segoe UI"/>
              </a:rPr>
              <a:t>Interactive Streamlit platform on port 8501/8502.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063240"/>
            <a:ext cx="5175504" cy="3108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32004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Final Key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657600"/>
            <a:ext cx="4809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A Blueprint for AI in STEM: </a:t>
            </a:r>
            <a:r>
              <a:rPr sz="1050">
                <a:solidFill>
                  <a:srgbClr val="1F2937"/>
                </a:solidFill>
                <a:latin typeface="Segoe UI"/>
              </a:rPr>
              <a:t>Proves that AI in technical education should never be a black-box oracle. By constraining LLMs to explain verified deterministic algorithms, we achieve zero hallucinations with maximum pedagogical value.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Extensible Architecture: </a:t>
            </a:r>
            <a:r>
              <a:rPr sz="1050">
                <a:solidFill>
                  <a:srgbClr val="1F2937"/>
                </a:solidFill>
                <a:latin typeface="Segoe UI"/>
              </a:rPr>
              <a:t>The modular solver-orchestrator pattern easily scales to Turing Machines, Pushdown Automata, and LL/LR parser generators.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F2C59"/>
                </a:solidFill>
                <a:latin typeface="Segoe UI"/>
              </a:rPr>
              <a:t>Thank You! Questions &amp; Discussion: </a:t>
            </a:r>
            <a:r>
              <a:rPr sz="1050">
                <a:solidFill>
                  <a:srgbClr val="1F2937"/>
                </a:solidFill>
                <a:latin typeface="Segoe UI"/>
              </a:rPr>
              <a:t>We are ready for questions and a live demo!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